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60120" y="-960120"/>
            <a:ext cx="2103120" cy="2103120"/>
          </a:xfrm>
          <a:prstGeom prst="ellipse">
            <a:avLst/>
          </a:prstGeom>
          <a:solidFill>
            <a:srgbClr val="000000">
              <a:alpha val="0"/>
            </a:srgbClr>
          </a:solidFill>
          <a:ln w="228600">
            <a:solidFill>
              <a:srgbClr val="CC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977640"/>
            <a:ext cx="2286000" cy="2286000"/>
          </a:xfrm>
          <a:prstGeom prst="ellipse">
            <a:avLst/>
          </a:prstGeom>
          <a:solidFill>
            <a:srgbClr val="1A001A"/>
          </a:solidFill>
          <a:ln w="177800">
            <a:solidFill>
              <a:srgbClr val="550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Robotic Intelligent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Хуманоидна роботизирана глава за естествено,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емоционално и контекстуално взаимодействие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Презентирана от: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Демирев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Даниел Йорданов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Нашият Екип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3154680" cy="2560320"/>
          </a:xfrm>
          <a:prstGeom prst="roundRect">
            <a:avLst>
              <a:gd name="adj" fmla="val 2857"/>
            </a:avLst>
          </a:prstGeom>
          <a:solidFill>
            <a:srgbClr val="1A0A18"/>
          </a:solidFill>
          <a:ln w="19050">
            <a:solidFill>
              <a:srgbClr val="CC00A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173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Снимка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Демирев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Firmware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Studio · Сглобяване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48840" y="461772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A0030"/>
          </a:solidFill>
          <a:ln w="10160">
            <a:solidFill>
              <a:srgbClr val="CC00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46268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10Б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74920" y="1005840"/>
            <a:ext cx="3154680" cy="2560320"/>
          </a:xfrm>
          <a:prstGeom prst="roundRect">
            <a:avLst>
              <a:gd name="adj" fmla="val 2857"/>
            </a:avLst>
          </a:prstGeom>
          <a:solidFill>
            <a:srgbClr val="1A0A18"/>
          </a:solidFill>
          <a:ln w="19050">
            <a:solidFill>
              <a:srgbClr val="CC00A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Снимка ]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74920" y="3657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Даниел Йорданов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07492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3D моделиране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Сглобяване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461772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A0030"/>
          </a:solidFill>
          <a:ln w="10160">
            <a:solidFill>
              <a:srgbClr val="CC00A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46268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8В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60120" y="-960120"/>
            <a:ext cx="2103120" cy="2103120"/>
          </a:xfrm>
          <a:prstGeom prst="ellipse">
            <a:avLst/>
          </a:prstGeom>
          <a:solidFill>
            <a:srgbClr val="000000">
              <a:alpha val="0"/>
            </a:srgbClr>
          </a:solidFill>
          <a:ln w="228600">
            <a:solidFill>
              <a:srgbClr val="CC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977640"/>
            <a:ext cx="2286000" cy="2286000"/>
          </a:xfrm>
          <a:prstGeom prst="ellipse">
            <a:avLst/>
          </a:prstGeom>
          <a:solidFill>
            <a:srgbClr val="1A001A"/>
          </a:solidFill>
          <a:ln w="177800">
            <a:solidFill>
              <a:srgbClr val="550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Роботите умеят</a:t>
            </a:r>
            <a:endParaRPr lang="en-US" sz="5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действат.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251460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могат ли</a:t>
            </a:r>
            <a:endParaRPr lang="en-US" sz="5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разговарят?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Роботиката Днес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0C0012"/>
          </a:solidFill>
          <a:ln w="12700">
            <a:solidFill>
              <a:srgbClr val="4400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7899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7190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 перфектни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10312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Robotics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 · Figure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Движение и баланс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2336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Нулева комуникация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2336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Роботът е инструмент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73552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0C0012"/>
          </a:solidFill>
          <a:ln w="12700">
            <a:solidFill>
              <a:srgbClr val="4400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078992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7190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Мимики — отчасти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83280" y="210312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Sophia (Hanson)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Ameca (Eng. Arts)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1568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Изразително лице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01568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Маркетинг, не платформа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01568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Без средова осъзнатост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63640" y="9601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0C0012"/>
          </a:solidFill>
          <a:ln w="12700">
            <a:solidFill>
              <a:srgbClr val="4400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078992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3368" y="17190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— отчасти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73368" y="210312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Furhat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(Furhat Robotics)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91656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Гласов интерфейс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91656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Статичен, без мимики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91656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Без визуален контекст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4663440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1A0020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84048" y="468172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Никое решение не обединява мимики  +  диалог  +  средова осъзнатост в единна платформа.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— Платформата за Естествено Взаимодействие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Универсална основа, върху която може да се изгради робот,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неразличим по комуникация от човек.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10018"/>
          </a:solidFill>
          <a:ln w="16510">
            <a:solidFill>
              <a:srgbClr val="CC00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93852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51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Многоканална комуникация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" y="316382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 + мимики + движения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синхронизирани в реално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10018"/>
          </a:solidFill>
          <a:ln w="16510">
            <a:solidFill>
              <a:srgbClr val="CC00A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3852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651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Средова осъзнатост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47288" y="316382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Вижда и разбира средата.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Каже "Виждам, че си в кухнята"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инструкция.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10018"/>
          </a:solidFill>
          <a:ln w="16510">
            <a:solidFill>
              <a:srgbClr val="CC00A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938528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2651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Универсална платформа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81928" y="316382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Образование, медицина,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търговия — надградима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 всяка сфера.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Системна Архитектура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46304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2A0030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64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Домейна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E0016"/>
          </a:solidFill>
          <a:ln w="15240">
            <a:solidFill>
              <a:srgbClr val="6600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60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8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КОМПЮТЪР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A0025"/>
          </a:solidFill>
          <a:ln w="15240">
            <a:solidFill>
              <a:srgbClr val="CC00A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0432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Asyncio · OpenAI · ElevenLabs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13716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A0025"/>
          </a:solidFill>
          <a:ln w="15240">
            <a:solidFill>
              <a:srgbClr val="CC00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4813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0096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STUDIO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40096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 · Real-time UI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40480" y="2523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JSON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0" y="2395728"/>
            <a:ext cx="0" cy="438912"/>
          </a:xfrm>
          <a:prstGeom prst="line">
            <a:avLst/>
          </a:prstGeom>
          <a:noFill/>
          <a:ln w="19050">
            <a:solidFill>
              <a:srgbClr val="CC00AA"/>
            </a:solidFill>
            <a:prstDash val="sysDash"/>
          </a:ln>
        </p:spPr>
      </p:sp>
      <p:sp>
        <p:nvSpPr>
          <p:cNvPr id="19" name="Shape 15"/>
          <p:cNvSpPr/>
          <p:nvPr/>
        </p:nvSpPr>
        <p:spPr>
          <a:xfrm>
            <a:off x="3337560" y="2852928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1A0015"/>
          </a:solidFill>
          <a:ln w="20320">
            <a:solidFill>
              <a:srgbClr val="CC00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29000" y="29626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 —  ESP32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10712" y="327355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· Low-level Control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0" y="3602736"/>
            <a:ext cx="0" cy="384048"/>
          </a:xfrm>
          <a:prstGeom prst="line">
            <a:avLst/>
          </a:prstGeom>
          <a:noFill/>
          <a:ln w="19050">
            <a:solidFill>
              <a:srgbClr val="CC00AA"/>
            </a:solidFill>
            <a:prstDash val="sysDash"/>
          </a:ln>
        </p:spPr>
      </p:sp>
      <p:sp>
        <p:nvSpPr>
          <p:cNvPr id="23" name="Text 19"/>
          <p:cNvSpPr/>
          <p:nvPr/>
        </p:nvSpPr>
        <p:spPr>
          <a:xfrm>
            <a:off x="3931920" y="3657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743200" y="4005072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A0015"/>
          </a:solidFill>
          <a:ln w="20320">
            <a:solidFill>
              <a:srgbClr val="CC00A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3464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PCA9685  —  PWM Controller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816352" y="442569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канала @ 50Hz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572000" y="4663440"/>
            <a:ext cx="0" cy="228600"/>
          </a:xfrm>
          <a:prstGeom prst="line">
            <a:avLst/>
          </a:prstGeom>
          <a:noFill/>
          <a:ln w="19050">
            <a:solidFill>
              <a:srgbClr val="CC00AA"/>
            </a:solidFill>
            <a:prstDash val="sysDash"/>
          </a:ln>
        </p:spPr>
      </p:sp>
      <p:sp>
        <p:nvSpPr>
          <p:cNvPr id="28" name="Text 24"/>
          <p:cNvSpPr/>
          <p:nvPr/>
        </p:nvSpPr>
        <p:spPr>
          <a:xfrm>
            <a:off x="3931920" y="46268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371600" y="4892040"/>
            <a:ext cx="6400800" cy="182880"/>
          </a:xfrm>
          <a:prstGeom prst="roundRect">
            <a:avLst>
              <a:gd name="adj" fmla="val 40000"/>
            </a:avLst>
          </a:prstGeom>
          <a:solidFill>
            <a:srgbClr val="1A0015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37160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SERVO МОТОРА   —   Очи · Вежди · Устни · Врат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XVF3800 Mic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594360" y="2231136"/>
            <a:ext cx="0" cy="365760"/>
          </a:xfrm>
          <a:prstGeom prst="line">
            <a:avLst/>
          </a:prstGeom>
          <a:noFill/>
          <a:ln w="10160">
            <a:solidFill>
              <a:srgbClr val="444444"/>
            </a:solidFill>
            <a:prstDash val="sysDash"/>
          </a:ln>
        </p:spPr>
      </p:sp>
      <p:sp>
        <p:nvSpPr>
          <p:cNvPr id="33" name="Text 29"/>
          <p:cNvSpPr/>
          <p:nvPr/>
        </p:nvSpPr>
        <p:spPr>
          <a:xfrm>
            <a:off x="18288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Механичен Модул  —  19 Степени на Свобода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20018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движещи се части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20018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24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0040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20018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024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98932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сервомотора (DOF)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D0015"/>
          </a:solidFill>
          <a:ln w="10160">
            <a:solidFill>
              <a:srgbClr val="5500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21284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D0015"/>
          </a:solidFill>
          <a:ln w="10160">
            <a:solidFill>
              <a:srgbClr val="5500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Вежди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21284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D0015"/>
          </a:solidFill>
          <a:ln w="10160">
            <a:solidFill>
              <a:srgbClr val="550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Устни/Челюст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21284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D0015"/>
          </a:solidFill>
          <a:ln w="10160">
            <a:solidFill>
              <a:srgbClr val="5500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" y="2980944"/>
            <a:ext cx="109728" cy="20116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дизайн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" y="3182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→ механизъм → череп. Никога обратното.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" y="3502152"/>
            <a:ext cx="109728" cy="20116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3447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Dovetail Joints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Лицевите модули плъзгат в релси — лесно сваляне.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" y="4023360"/>
            <a:ext cx="109728" cy="20116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3968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Snap-fit + Broaching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" y="4224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Нула метални крепежни елементи в целия дизайн.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73752" y="2980944"/>
            <a:ext cx="109728" cy="20116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на 45°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38344" y="3182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от модела без поддържащи структури (supports).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73752" y="3502152"/>
            <a:ext cx="109728" cy="20116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3447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Gyroid/Cubic Infill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38344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Еднаква здравина в всички посоки около servo леглата.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Електронна Архитектура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06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106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Лаптоп — AI &amp; управление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399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команди → USB / Serial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801368"/>
            <a:ext cx="0" cy="201168"/>
          </a:xfrm>
          <a:prstGeom prst="line">
            <a:avLst/>
          </a:prstGeom>
          <a:noFill/>
          <a:ln w="15240">
            <a:solidFill>
              <a:srgbClr val="CC00AA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320040" y="200253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Мозъчен ствол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350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Приема команди, изпраща PWM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752344"/>
            <a:ext cx="0" cy="201168"/>
          </a:xfrm>
          <a:prstGeom prst="line">
            <a:avLst/>
          </a:prstGeom>
          <a:noFill/>
          <a:ln w="15240">
            <a:solidFill>
              <a:srgbClr val="CC00AA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320040" y="295351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5240">
            <a:solidFill>
              <a:srgbClr val="9900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08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CTRL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008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PCA9685 — 32 канала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00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· 12-bit · I²C шина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703320"/>
            <a:ext cx="0" cy="201168"/>
          </a:xfrm>
          <a:prstGeom prst="line">
            <a:avLst/>
          </a:prstGeom>
          <a:noFill/>
          <a:ln w="15240">
            <a:solidFill>
              <a:srgbClr val="CC00AA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320040" y="390448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5240">
            <a:solidFill>
              <a:srgbClr val="660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9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959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Сервомотора  —  15А пик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83080" y="4251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 · Вежди · Устни · Врат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Инженерски Решения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55448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40096" y="14264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Модифицирано ATX захранване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40096" y="1719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15A стабилно — окъсен зелен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 кабел, без дънна платка.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228600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46888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40096" y="23408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Медна силова шина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40096" y="26334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Байпас на PCA9685 PWM писти.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Срязани кабели, собствена шина.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320040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83280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40096" y="32552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XVF3800 Mic Array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340096" y="35478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+ AEC — филтрира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собствения глас на робота.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846320" y="411480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4297680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40096" y="41696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 захранващи контури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340096" y="44622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Логиката и моторите — напълно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изолирани. Без voltage drop.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 —  Детерминиран Хардуерен Контролер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0020"/>
          </a:solidFill>
          <a:ln w="1143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96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75688" y="98755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0020"/>
          </a:solidFill>
          <a:ln w="11430">
            <a:solidFill>
              <a:srgbClr val="CC00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996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39896" y="98755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0020"/>
          </a:solidFill>
          <a:ln w="11430">
            <a:solidFill>
              <a:srgbClr val="CC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996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Команди: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792224"/>
            <a:ext cx="4937760" cy="2907792"/>
          </a:xfrm>
          <a:prstGeom prst="roundRect">
            <a:avLst>
              <a:gd name="adj" fmla="val 2516"/>
            </a:avLst>
          </a:prstGeom>
          <a:solidFill>
            <a:srgbClr val="060010"/>
          </a:solidFill>
          <a:ln w="12700">
            <a:solidFill>
              <a:srgbClr val="330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move_servo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 движение с линейна интерполация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267712"/>
            <a:ext cx="4626864" cy="0"/>
          </a:xfrm>
          <a:prstGeom prst="line">
            <a:avLst/>
          </a:prstGeom>
          <a:noFill/>
          <a:ln w="8890">
            <a:solidFill>
              <a:srgbClr val="2200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move_multiple_servos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Синхронно за N мотора едновременно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798064"/>
            <a:ext cx="4626864" cy="0"/>
          </a:xfrm>
          <a:prstGeom prst="line">
            <a:avLst/>
          </a:prstGeom>
          <a:noFill/>
          <a:ln w="8890">
            <a:solidFill>
              <a:srgbClr val="2200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set_angles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29809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Директно позициониране (real-time)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328416"/>
            <a:ext cx="4626864" cy="0"/>
          </a:xfrm>
          <a:prstGeom prst="line">
            <a:avLst/>
          </a:prstGeom>
          <a:noFill/>
          <a:ln w="8890">
            <a:solidFill>
              <a:srgbClr val="2200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11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calibrate_servos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51129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мотори → калибрационна позиция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858768"/>
            <a:ext cx="4626864" cy="0"/>
          </a:xfrm>
          <a:prstGeom prst="line">
            <a:avLst/>
          </a:prstGeom>
          <a:noFill/>
          <a:ln w="8890">
            <a:solidFill>
              <a:srgbClr val="2200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40416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Спира всички движения, задържа позиция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9875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 Решения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77840" y="1389888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389888"/>
            <a:ext cx="73152" cy="74980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24144" y="14538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JSON format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24144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Вмества се в 260-байтовия RX буфер на ESP32.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2249424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2249424"/>
            <a:ext cx="73152" cy="74980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2313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Синхронна интерполация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24144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мотори завършват едновременно — мимиките изглеждат естествени.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31089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108960"/>
            <a:ext cx="73152" cy="74980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24144" y="3172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Приоритетна система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24144" y="3438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Разрешава конфликти при едновременни команди от lip sync, idle и израз.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396849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3968496"/>
            <a:ext cx="73152" cy="749808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4032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Безопасни граници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24144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Невалидна команда не поврежда физически нито един мотор.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— Пълният Разговорен Цикъл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Porcupine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(edge, local)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Намигване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засичане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~0 ms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9304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1680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81912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36776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STT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36776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Whisper-1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(OpenAI, BG)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36776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Pre-buffer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1640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~1–2 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62072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54680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9544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64408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9544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Vision 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9544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Стая · Час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История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4408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9544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~0.4 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57216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27448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37176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изречения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82312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робота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37176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~0.8 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07608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29984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9984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00216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Lip Sync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9944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char-level align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визема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езика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9944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 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580376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2752" y="960120"/>
            <a:ext cx="402336" cy="402336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96926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872984" y="1399032"/>
            <a:ext cx="1261872" cy="1993392"/>
          </a:xfrm>
          <a:prstGeom prst="roundRect">
            <a:avLst>
              <a:gd name="adj" fmla="val 5797"/>
            </a:avLst>
          </a:prstGeom>
          <a:solidFill>
            <a:srgbClr val="0E0018"/>
          </a:solidFill>
          <a:ln w="13970">
            <a:solidFill>
              <a:srgbClr val="CC00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27848" y="14904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Commands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982712" y="1801368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27848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ServoMixer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System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27848" y="2377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мотора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C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82712" y="2843784"/>
            <a:ext cx="1042416" cy="10973"/>
          </a:xfrm>
          <a:prstGeom prst="rect">
            <a:avLst/>
          </a:prstGeom>
          <a:solidFill>
            <a:srgbClr val="440044"/>
          </a:solidFill>
          <a:ln w="12700">
            <a:solidFill>
              <a:srgbClr val="4400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27848" y="2898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&lt;50 ms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Пълен цикъл от wake word до движение на сервомотори — оптимизиран за минимална латентност.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 Sync — Синхронизация с Реалното Говорене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 →  character-level timestamps  →  6 Визема класа  →  Servo ъгли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—·б·п·м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46504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746504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6504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е·и·з·с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172968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72968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д·н·т·л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99432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99432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а·я·ъ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25896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25896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25896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о·у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52360" y="135331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120018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138988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⊔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452360" y="1865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ф·в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26974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A0025"/>
          </a:solidFill>
          <a:ln w="10160">
            <a:solidFill>
              <a:srgbClr val="CC00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706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Кирилица + Латиница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090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ServoMixer — Приоритетна Система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3438144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060010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53872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2A0030"/>
          </a:solidFill>
          <a:ln w="11430">
            <a:solidFill>
              <a:srgbClr val="CC00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478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3547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Мигане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49424" y="3547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(override всичко — реализъм)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87705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2A0030"/>
          </a:solidFill>
          <a:ln w="11430">
            <a:solidFill>
              <a:srgbClr val="CC00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8862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886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 Sync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49424" y="3886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(при говорене)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21538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2A0030"/>
          </a:solidFill>
          <a:ln w="11430">
            <a:solidFill>
              <a:srgbClr val="AA00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2452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4224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Gaze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24942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(случайно оглеждане)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55371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2A0030"/>
          </a:solidFill>
          <a:ln w="11430">
            <a:solidFill>
              <a:srgbClr val="7700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5628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45628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Израз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49424" y="45628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(неутрален базов слой)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3090672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20018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3163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69280" y="34930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Роботът мига, се оглежда И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синхронизира устните 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едновременно, без конфликти.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Никакъв допълнителен код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приоритетите правят всичко.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Studio — Платформа за Управление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Изградена от нулата  ·  FastAPI + WebSocket  ·  Real-time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080012"/>
          </a:solidFill>
          <a:ln w="17780">
            <a:solidFill>
              <a:srgbClr val="CC00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3317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383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Robot Studio 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325880"/>
            <a:ext cx="3858768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5087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3807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Ръчен контрол на 19 servo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68112" y="16550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мотор поотделно, директно от браузъра, без забавяне.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83480" y="2185416"/>
            <a:ext cx="3858768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23682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68112" y="2240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Editor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68112" y="25146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Позиционираш моторите на живо → запазваш израза с едно кликане.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983480" y="3044952"/>
            <a:ext cx="3858768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322783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68112" y="30998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Ръчен / Автоматичен режим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68112" y="33741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 превключване — Brain поема без прекъсване.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983480" y="3904488"/>
            <a:ext cx="3858768" cy="749808"/>
          </a:xfrm>
          <a:prstGeom prst="roundRect">
            <a:avLst>
              <a:gd name="adj" fmla="val 9756"/>
            </a:avLst>
          </a:prstGeom>
          <a:solidFill>
            <a:srgbClr val="0D0015"/>
          </a:solidFill>
          <a:ln w="10160">
            <a:solidFill>
              <a:srgbClr val="44004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40873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68112" y="39593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лог система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68112" y="4233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Всяко вътрешно събитие → WebSocket → браузъра в ms.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60120" y="-960120"/>
            <a:ext cx="2103120" cy="2103120"/>
          </a:xfrm>
          <a:prstGeom prst="ellipse">
            <a:avLst/>
          </a:prstGeom>
          <a:solidFill>
            <a:srgbClr val="000000">
              <a:alpha val="0"/>
            </a:srgbClr>
          </a:solidFill>
          <a:ln w="228600">
            <a:solidFill>
              <a:srgbClr val="CC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977640"/>
            <a:ext cx="2286000" cy="2286000"/>
          </a:xfrm>
          <a:prstGeom prst="ellipse">
            <a:avLst/>
          </a:prstGeom>
          <a:solidFill>
            <a:srgbClr val="1A001A"/>
          </a:solidFill>
          <a:ln w="177800">
            <a:solidFill>
              <a:srgbClr val="550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в Числа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953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степени на свобода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04672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5953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246120" y="16276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движещи се части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804672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85953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080760" y="16276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942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 домейна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194560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24942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324612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модела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4942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608076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визема класа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584448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3931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15A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411480" y="4407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ток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584448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63931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3246120" y="4407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файла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584448"/>
            <a:ext cx="2514600" cy="1207008"/>
          </a:xfrm>
          <a:prstGeom prst="roundRect">
            <a:avLst>
              <a:gd name="adj" fmla="val 6061"/>
            </a:avLst>
          </a:prstGeom>
          <a:solidFill>
            <a:srgbClr val="0A000E"/>
          </a:solidFill>
          <a:ln w="10160">
            <a:solidFill>
              <a:srgbClr val="3300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63931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6080760" y="4407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метални крепежни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Предизвикателствата, Които Превъзмогнахме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33856"/>
            <a:ext cx="548640" cy="548640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02412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мотора в черепа — FDM ограничения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" y="1371600"/>
            <a:ext cx="7772400" cy="0"/>
          </a:xfrm>
          <a:prstGeom prst="line">
            <a:avLst/>
          </a:prstGeom>
          <a:noFill/>
          <a:ln w="7620">
            <a:solidFill>
              <a:srgbClr val="330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356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дизайн, snap-fit сглобки, dovetail joints, broaching метод. Нула метални крепежни. 90%+ от модела без поддържащи структури.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548640" cy="548640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32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552" y="232257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15А пик ток при едновременни движения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2670048"/>
            <a:ext cx="7772400" cy="0"/>
          </a:xfrm>
          <a:prstGeom prst="line">
            <a:avLst/>
          </a:prstGeom>
          <a:noFill/>
          <a:ln w="7620">
            <a:solidFill>
              <a:srgbClr val="330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73405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Модифицирано ATX захранване (5V/15A). Собствена медна силова шина, байпас на PCA9685 PWM писти. Изцяло разделени захранващи контури.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548640" cy="548640"/>
          </a:xfrm>
          <a:prstGeom prst="ellipse">
            <a:avLst/>
          </a:prstGeom>
          <a:solidFill>
            <a:srgbClr val="2A0035"/>
          </a:solidFill>
          <a:ln w="19050">
            <a:solidFill>
              <a:srgbClr val="CC00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3621024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Синхронизиран lip sync в 5-стъпков real-time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3968496"/>
            <a:ext cx="7772400" cy="0"/>
          </a:xfrm>
          <a:prstGeom prst="line">
            <a:avLst/>
          </a:prstGeom>
          <a:noFill/>
          <a:ln w="7620">
            <a:solidFill>
              <a:srgbClr val="330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03250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timing от ElevenLabs. ServoMixer приоритетна система (10→7→5→0). Паралелно asyncio — мигане, гледане и lip sync едновременно.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60120" y="-960120"/>
            <a:ext cx="2103120" cy="2103120"/>
          </a:xfrm>
          <a:prstGeom prst="ellipse">
            <a:avLst/>
          </a:prstGeom>
          <a:solidFill>
            <a:srgbClr val="000000">
              <a:alpha val="0"/>
            </a:srgbClr>
          </a:solidFill>
          <a:ln w="228600">
            <a:solidFill>
              <a:srgbClr val="CC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977640"/>
            <a:ext cx="2286000" cy="2286000"/>
          </a:xfrm>
          <a:prstGeom prst="ellipse">
            <a:avLst/>
          </a:prstGeom>
          <a:solidFill>
            <a:srgbClr val="1A001A"/>
          </a:solidFill>
          <a:ln w="177800">
            <a:solidFill>
              <a:srgbClr val="5500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220028">
              <a:alpha val="50000"/>
            </a:srgbClr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1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Robotic Intelligent System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Бъдещи Посоки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22860"/>
          </a:xfrm>
          <a:prstGeom prst="rect">
            <a:avLst/>
          </a:prstGeom>
          <a:solidFill>
            <a:srgbClr val="CC00AA"/>
          </a:solidFill>
          <a:ln w="12700">
            <a:solidFill>
              <a:srgbClr val="CC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0D0015"/>
          </a:solidFill>
          <a:ln w="16510">
            <a:solidFill>
              <a:srgbClr val="CC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1261872"/>
            <a:ext cx="493776" cy="493776"/>
          </a:xfrm>
          <a:prstGeom prst="ellipse">
            <a:avLst/>
          </a:prstGeom>
          <a:solidFill>
            <a:srgbClr val="2A0035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1261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90195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651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 Тяло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Добавяне на ръце и туловище. Превръщане на главата в пълна хуманоидна платформа.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0D0015"/>
          </a:solidFill>
          <a:ln w="16510">
            <a:solidFill>
              <a:srgbClr val="CC00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261872"/>
            <a:ext cx="493776" cy="493776"/>
          </a:xfrm>
          <a:prstGeom prst="ellipse">
            <a:avLst/>
          </a:prstGeom>
          <a:solidFill>
            <a:srgbClr val="2A0035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1261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901952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65576" y="2651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Локални AI Модели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93008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(Whisper local, Ollama). Намалена латентност, офлайн работа.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8776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0D0015"/>
          </a:solidFill>
          <a:ln w="16510">
            <a:solidFill>
              <a:srgbClr val="CC00A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7768" y="1261872"/>
            <a:ext cx="493776" cy="493776"/>
          </a:xfrm>
          <a:prstGeom prst="ellipse">
            <a:avLst/>
          </a:prstGeom>
          <a:solidFill>
            <a:srgbClr val="2A0035"/>
          </a:solidFill>
          <a:ln w="15240">
            <a:solidFill>
              <a:srgbClr val="CC00A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87768" y="1261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1901952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18504" y="2651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Специализирани Имплементации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45936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Образование, медицина, публичен асистент — IRIS като universal platform.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732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60120" y="-960120"/>
            <a:ext cx="2103120" cy="2103120"/>
          </a:xfrm>
          <a:prstGeom prst="ellipse">
            <a:avLst/>
          </a:prstGeom>
          <a:solidFill>
            <a:srgbClr val="000000">
              <a:alpha val="0"/>
            </a:srgbClr>
          </a:solidFill>
          <a:ln w="228600">
            <a:solidFill>
              <a:srgbClr val="CC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977640"/>
            <a:ext cx="2286000" cy="2286000"/>
          </a:xfrm>
          <a:prstGeom prst="ellipse">
            <a:avLst/>
          </a:prstGeom>
          <a:solidFill>
            <a:srgbClr val="1A001A"/>
          </a:solidFill>
          <a:ln w="177800">
            <a:solidFill>
              <a:srgbClr val="5500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645920"/>
            <a:ext cx="5486400" cy="1828800"/>
          </a:xfrm>
          <a:prstGeom prst="roundRect">
            <a:avLst>
              <a:gd name="adj" fmla="val 17500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CC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828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Благодарим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24871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Демирев  ·  Даниел Йорданов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по ИТ  ·  2025/2026  ·  Роботика и ИИ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— Олимпиада по ИТ 2025/2026</dc:title>
  <dc:subject>PptxGenJS Presentation</dc:subject>
  <dc:creator>PptxGenJS</dc:creator>
  <cp:lastModifiedBy>PptxGenJS</cp:lastModifiedBy>
  <cp:revision>1</cp:revision>
  <dcterms:created xsi:type="dcterms:W3CDTF">2026-03-06T13:18:16Z</dcterms:created>
  <dcterms:modified xsi:type="dcterms:W3CDTF">2026-03-06T13:18:16Z</dcterms:modified>
</cp:coreProperties>
</file>